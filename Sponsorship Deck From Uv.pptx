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Google Sans SemiBold"/>
      <p:regular r:id="rId29"/>
      <p:bold r:id="rId30"/>
      <p:italic r:id="rId31"/>
      <p:boldItalic r:id="rId32"/>
    </p:embeddedFont>
    <p:embeddedFont>
      <p:font typeface="Roboto Mono Light"/>
      <p:regular r:id="rId33"/>
      <p:bold r:id="rId34"/>
      <p:italic r:id="rId35"/>
      <p:boldItalic r:id="rId36"/>
    </p:embeddedFont>
    <p:embeddedFont>
      <p:font typeface="Google Sans"/>
      <p:bold r:id="rId37"/>
      <p:boldItalic r:id="rId38"/>
    </p:embeddedFont>
    <p:embeddedFont>
      <p:font typeface="Google Sans Medium"/>
      <p:regular r:id="rId39"/>
      <p:bold r:id="rId40"/>
      <p:italic r:id="rId41"/>
      <p:boldItalic r:id="rId42"/>
    </p:embeddedFont>
    <p:embeddedFont>
      <p:font typeface="Tahoma"/>
      <p:regular r:id="rId43"/>
      <p:bold r:id="rId44"/>
    </p:embeddedFont>
    <p:embeddedFont>
      <p:font typeface="Roboto Mono Thin"/>
      <p:regular r:id="rId45"/>
      <p:bold r:id="rId46"/>
      <p:italic r:id="rId47"/>
      <p:boldItalic r:id="rId48"/>
    </p:embeddedFont>
    <p:embeddedFont>
      <p:font typeface="Arial Black"/>
      <p:regular r:id="rId49"/>
    </p:embeddedFont>
    <p:embeddedFont>
      <p:font typeface="Roboto Mon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ogleSansMedium-bold.fntdata"/><Relationship Id="rId42" Type="http://schemas.openxmlformats.org/officeDocument/2006/relationships/font" Target="fonts/GoogleSansMedium-boldItalic.fntdata"/><Relationship Id="rId41" Type="http://schemas.openxmlformats.org/officeDocument/2006/relationships/font" Target="fonts/GoogleSansMedium-italic.fntdata"/><Relationship Id="rId44" Type="http://schemas.openxmlformats.org/officeDocument/2006/relationships/font" Target="fonts/Tahoma-bold.fntdata"/><Relationship Id="rId43" Type="http://schemas.openxmlformats.org/officeDocument/2006/relationships/font" Target="fonts/Tahoma-regular.fntdata"/><Relationship Id="rId46" Type="http://schemas.openxmlformats.org/officeDocument/2006/relationships/font" Target="fonts/RobotoMonoThin-bold.fntdata"/><Relationship Id="rId45" Type="http://schemas.openxmlformats.org/officeDocument/2006/relationships/font" Target="fonts/RobotoMonoThi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Thin-boldItalic.fntdata"/><Relationship Id="rId47" Type="http://schemas.openxmlformats.org/officeDocument/2006/relationships/font" Target="fonts/RobotoMonoThin-italic.fntdata"/><Relationship Id="rId49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ogleSansSemiBold-italic.fntdata"/><Relationship Id="rId30" Type="http://schemas.openxmlformats.org/officeDocument/2006/relationships/font" Target="fonts/GoogleSansSemiBold-bold.fntdata"/><Relationship Id="rId33" Type="http://schemas.openxmlformats.org/officeDocument/2006/relationships/font" Target="fonts/RobotoMonoLight-regular.fntdata"/><Relationship Id="rId32" Type="http://schemas.openxmlformats.org/officeDocument/2006/relationships/font" Target="fonts/GoogleSansSemiBold-boldItalic.fntdata"/><Relationship Id="rId35" Type="http://schemas.openxmlformats.org/officeDocument/2006/relationships/font" Target="fonts/RobotoMonoLight-italic.fntdata"/><Relationship Id="rId34" Type="http://schemas.openxmlformats.org/officeDocument/2006/relationships/font" Target="fonts/RobotoMonoLight-bold.fntdata"/><Relationship Id="rId37" Type="http://schemas.openxmlformats.org/officeDocument/2006/relationships/font" Target="fonts/GoogleSans-bold.fntdata"/><Relationship Id="rId36" Type="http://schemas.openxmlformats.org/officeDocument/2006/relationships/font" Target="fonts/RobotoMonoLight-boldItalic.fntdata"/><Relationship Id="rId39" Type="http://schemas.openxmlformats.org/officeDocument/2006/relationships/font" Target="fonts/GoogleSansMedium-regular.fntdata"/><Relationship Id="rId38" Type="http://schemas.openxmlformats.org/officeDocument/2006/relationships/font" Target="fonts/Google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font" Target="fonts/GoogleSansSemiBold-regular.fntdata"/><Relationship Id="rId51" Type="http://schemas.openxmlformats.org/officeDocument/2006/relationships/font" Target="fonts/RobotoMono-bold.fntdata"/><Relationship Id="rId50" Type="http://schemas.openxmlformats.org/officeDocument/2006/relationships/font" Target="fonts/RobotoMono-regular.fntdata"/><Relationship Id="rId53" Type="http://schemas.openxmlformats.org/officeDocument/2006/relationships/font" Target="fonts/RobotoMono-boldItalic.fntdata"/><Relationship Id="rId52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a287246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40a287246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0a287246a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0a287246a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0a287246a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0a287246a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0a287246a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0a287246a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0a287246a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0a287246a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0a287246a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0a287246a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0a287246a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0a287246a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0a287246a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0a287246a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a287246a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a287246a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0a287246a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40a287246a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0a287246a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40a287246a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0a287246a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0a287246a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0a287246a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40a287246a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0a287246a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0a287246a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a287246a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a287246a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0a287246a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40a287246a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40a287246a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40a287246a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0a287246a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40a287246a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a287246a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0a287246a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40a287246a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40a287246a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0a287246a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0a287246a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0a287246a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0a287246a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0a287246a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0a287246a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Logo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hyperlink" Target="mailto:gdgbaroda@gmail.com" TargetMode="External"/><Relationship Id="rId7" Type="http://schemas.openxmlformats.org/officeDocument/2006/relationships/hyperlink" Target="mailto:gdgbaroda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527000" y="437975"/>
            <a:ext cx="7898700" cy="3792300"/>
          </a:xfrm>
          <a:prstGeom prst="roundRect">
            <a:avLst>
              <a:gd fmla="val 5454" name="adj"/>
            </a:avLst>
          </a:prstGeom>
          <a:solidFill>
            <a:srgbClr val="FFFFFF"/>
          </a:solidFill>
          <a:ln cap="flat" cmpd="sng" w="143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857250" y="762000"/>
            <a:ext cx="2762400" cy="324000"/>
          </a:xfrm>
          <a:prstGeom prst="roundRect">
            <a:avLst>
              <a:gd fmla="val 50000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/>
        </p:nvSpPr>
        <p:spPr>
          <a:xfrm>
            <a:off x="857250" y="762000"/>
            <a:ext cx="27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EVENT PARTNERSHIP OPPORTUNITIES</a:t>
            </a:r>
            <a:endParaRPr b="1" sz="110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857250" y="1257300"/>
            <a:ext cx="7429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7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GDG DEVFEST</a:t>
            </a:r>
            <a:endParaRPr b="1" sz="407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407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b="1" lang="en" sz="4070">
                <a:solidFill>
                  <a:srgbClr val="EA4335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b="1" lang="en" sz="4070">
                <a:solidFill>
                  <a:srgbClr val="FBBC04"/>
                </a:solidFill>
                <a:latin typeface="Google Sans"/>
                <a:ea typeface="Google Sans"/>
                <a:cs typeface="Google Sans"/>
                <a:sym typeface="Google Sans"/>
              </a:rPr>
              <a:t>R</a:t>
            </a:r>
            <a:r>
              <a:rPr b="1" lang="en" sz="407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O</a:t>
            </a:r>
            <a:r>
              <a:rPr b="1" lang="en" sz="4070">
                <a:solidFill>
                  <a:srgbClr val="34A853"/>
                </a:solidFill>
                <a:latin typeface="Google Sans"/>
                <a:ea typeface="Google Sans"/>
                <a:cs typeface="Google Sans"/>
                <a:sym typeface="Google Sans"/>
              </a:rPr>
              <a:t>D</a:t>
            </a:r>
            <a:r>
              <a:rPr b="1" lang="en" sz="4070">
                <a:solidFill>
                  <a:srgbClr val="EA4335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b="1" lang="en" sz="407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2026</a:t>
            </a:r>
            <a:endParaRPr b="1" sz="407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857250" y="2628900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Partner with Baroda’s Thriving Tech Ecosystem</a:t>
            </a:r>
            <a:endParaRPr b="0" sz="1800">
              <a:solidFill>
                <a:srgbClr val="4285F4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857250" y="3238500"/>
            <a:ext cx="2095500" cy="495300"/>
          </a:xfrm>
          <a:prstGeom prst="roundRect">
            <a:avLst>
              <a:gd fmla="val 26923" name="adj"/>
            </a:avLst>
          </a:prstGeom>
          <a:solidFill>
            <a:srgbClr val="F8F9FA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1728" l="0" r="0" t="1728"/>
          <a:stretch/>
        </p:blipFill>
        <p:spPr>
          <a:xfrm>
            <a:off x="1028700" y="3390900"/>
            <a:ext cx="1716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295400" y="3238500"/>
            <a:ext cx="1524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October 25, 2026</a:t>
            </a:r>
            <a:endParaRPr b="0" sz="13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64" name="Google Shape;64;p14" title="Gradient Ban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058475"/>
            <a:ext cx="9144003" cy="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3105150" y="3238500"/>
            <a:ext cx="1333500" cy="495300"/>
          </a:xfrm>
          <a:prstGeom prst="roundRect">
            <a:avLst>
              <a:gd fmla="val 26923" name="adj"/>
            </a:avLst>
          </a:prstGeom>
          <a:solidFill>
            <a:srgbClr val="F8F9FA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5">
            <a:alphaModFix/>
          </a:blip>
          <a:srcRect b="826" l="0" r="0" t="816"/>
          <a:stretch/>
        </p:blipFill>
        <p:spPr>
          <a:xfrm>
            <a:off x="3276600" y="3390900"/>
            <a:ext cx="142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3505200" y="3238500"/>
            <a:ext cx="819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TBD</a:t>
            </a:r>
            <a:endParaRPr b="0" sz="13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 title="DF25_PresentationTemplate_Title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Baroda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94400" y="1795300"/>
            <a:ext cx="78945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GDG Baroda DevFest 2026 Sponsorship Deck</a:t>
            </a:r>
            <a:endParaRPr b="1" sz="5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4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848065" y="800806"/>
            <a:ext cx="74457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About GDG Baroda</a:t>
            </a:r>
            <a:endParaRPr b="1"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Google Developer Group (GDG) Baroda was founded in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2014 with a mission to empower the local tech community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 Baroda through knowledge sharing, networking, and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hands-on learning experiences.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Today, we're a thriving community of over 5,000+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members passionate about technology and innovation.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848075" y="772775"/>
            <a:ext cx="77283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About GDG Baroda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Google Sans"/>
              <a:buChar char="●"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5000+ Registered Community Members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Google Sans"/>
              <a:buChar char="●"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Monthly Technical Meetups &amp; Hands-on Codelabs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Google Sans"/>
              <a:buChar char="●"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Annual flagship events like DevFest and Build-with- AI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02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Google Sans"/>
              <a:buChar char="●"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Collaboration with various communities</a:t>
            </a:r>
            <a:endParaRPr sz="12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 title="OFM01775.JPG"/>
          <p:cNvPicPr preferRelativeResize="0"/>
          <p:nvPr/>
        </p:nvPicPr>
        <p:blipFill rotWithShape="1">
          <a:blip r:embed="rId3">
            <a:alphaModFix/>
          </a:blip>
          <a:srcRect b="0" l="23715" r="23715" t="0"/>
          <a:stretch/>
        </p:blipFill>
        <p:spPr>
          <a:xfrm>
            <a:off x="4984375" y="0"/>
            <a:ext cx="3808927" cy="478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DF25_PresentationTemplate_Title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Baroda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392225" y="1947700"/>
            <a:ext cx="42942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About DevFest Baroda 2026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848065" y="800806"/>
            <a:ext cx="74457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DevFest is GDG Baroda's flagship annual conference,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bringing together developers, tech enthusiasts, and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industry leaders for day full of learning, networking, and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Innovation.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This year's DevFest Baroda will focus on </a:t>
            </a:r>
            <a:r>
              <a:rPr b="1"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AI, Responsible</a:t>
            </a:r>
            <a:endParaRPr b="1"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AI</a:t>
            </a: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b="1"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and Cloud technologies</a:t>
            </a: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, featuring speakers from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some of the biggest tech companies in the world.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848075" y="800800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Expert-Led Sessions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8001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Insightful talks from Industry leaders and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Google Developer Experts. 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Hands on Workshops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8001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Series of workshops prior to main event reaching almost 1000+ people.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848075" y="800800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Networking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8001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Connect with 400+ professionals, industry experts and tech professionals.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Recruitment Opportunities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8001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Meet potential candidates from different fields and showcase your brand.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848075" y="772782"/>
            <a:ext cx="71640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Our Audience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848075" y="1901778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DevFest Baroda consistently attracts a diverse audience of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tech enthusiasts, professionals, and students from across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region. Understanding our audience demographics will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help you maximize your sponsorship impact.</a:t>
            </a:r>
            <a:endParaRPr sz="2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847725" y="714375"/>
            <a:ext cx="716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Our Audience</a:t>
            </a:r>
            <a:endParaRPr b="1" sz="2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26" name="Google Shape;126;p23"/>
          <p:cNvGrpSpPr/>
          <p:nvPr/>
        </p:nvGrpSpPr>
        <p:grpSpPr>
          <a:xfrm>
            <a:off x="847725" y="1428750"/>
            <a:ext cx="3657600" cy="1047900"/>
            <a:chOff x="0" y="0"/>
            <a:chExt cx="3657600" cy="1047900"/>
          </a:xfrm>
        </p:grpSpPr>
        <p:sp>
          <p:nvSpPr>
            <p:cNvPr id="127" name="Google Shape;127;p23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3"/>
            <p:cNvSpPr txBox="1"/>
            <p:nvPr/>
          </p:nvSpPr>
          <p:spPr>
            <a:xfrm>
              <a:off x="228600" y="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55</a:t>
              </a:r>
              <a:r>
                <a:rPr b="1" lang="en" sz="38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0+</a:t>
              </a:r>
              <a:endParaRPr b="1" sz="3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F6368"/>
                  </a:solidFill>
                  <a:latin typeface="Roboto Mono Light"/>
                  <a:ea typeface="Roboto Mono Light"/>
                  <a:cs typeface="Roboto Mono Light"/>
                  <a:sym typeface="Roboto Mono Light"/>
                </a:rPr>
                <a:t>Total Attendees</a:t>
              </a:r>
              <a:br>
                <a:rPr b="0" lang="en" sz="1200">
                  <a:solidFill>
                    <a:srgbClr val="5F6368"/>
                  </a:solidFill>
                  <a:latin typeface="Roboto Mono Light"/>
                  <a:ea typeface="Roboto Mono Light"/>
                  <a:cs typeface="Roboto Mono Light"/>
                  <a:sym typeface="Roboto Mono Light"/>
                </a:rPr>
              </a:br>
              <a:r>
                <a:rPr b="0" lang="en" sz="1000">
                  <a:solidFill>
                    <a:srgbClr val="5F6368"/>
                  </a:solidFill>
                  <a:latin typeface="Roboto Mono Light"/>
                  <a:ea typeface="Roboto Mono Light"/>
                  <a:cs typeface="Roboto Mono Light"/>
                  <a:sym typeface="Roboto Mono Light"/>
                </a:rPr>
                <a:t>(Pre-events + Main event)</a:t>
              </a:r>
              <a:endParaRPr b="0" sz="1200">
                <a:solidFill>
                  <a:srgbClr val="5F6368"/>
                </a:solidFill>
                <a:latin typeface="Roboto Mono Light"/>
                <a:ea typeface="Roboto Mono Light"/>
                <a:cs typeface="Roboto Mono Light"/>
                <a:sym typeface="Roboto Mono Light"/>
              </a:endParaRPr>
            </a:p>
          </p:txBody>
        </p:sp>
      </p:grpSp>
      <p:grpSp>
        <p:nvGrpSpPr>
          <p:cNvPr id="129" name="Google Shape;129;p23"/>
          <p:cNvGrpSpPr/>
          <p:nvPr/>
        </p:nvGrpSpPr>
        <p:grpSpPr>
          <a:xfrm>
            <a:off x="847725" y="2714625"/>
            <a:ext cx="1762200" cy="1047900"/>
            <a:chOff x="0" y="0"/>
            <a:chExt cx="1762200" cy="1047900"/>
          </a:xfrm>
        </p:grpSpPr>
        <p:sp>
          <p:nvSpPr>
            <p:cNvPr id="130" name="Google Shape;130;p23"/>
            <p:cNvSpPr/>
            <p:nvPr/>
          </p:nvSpPr>
          <p:spPr>
            <a:xfrm>
              <a:off x="0" y="0"/>
              <a:ext cx="1762200" cy="1047900"/>
            </a:xfrm>
            <a:prstGeom prst="roundRect">
              <a:avLst>
                <a:gd fmla="val 10909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3"/>
            <p:cNvSpPr txBox="1"/>
            <p:nvPr/>
          </p:nvSpPr>
          <p:spPr>
            <a:xfrm>
              <a:off x="0" y="0"/>
              <a:ext cx="1762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EA4335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40%</a:t>
              </a:r>
              <a:endParaRPr b="1" sz="2400">
                <a:solidFill>
                  <a:srgbClr val="EA4335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Professionals</a:t>
              </a:r>
              <a:endParaRPr b="0" sz="11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32" name="Google Shape;132;p23"/>
          <p:cNvGrpSpPr/>
          <p:nvPr/>
        </p:nvGrpSpPr>
        <p:grpSpPr>
          <a:xfrm>
            <a:off x="2752725" y="2714625"/>
            <a:ext cx="1762200" cy="1047900"/>
            <a:chOff x="0" y="0"/>
            <a:chExt cx="1762200" cy="1047900"/>
          </a:xfrm>
        </p:grpSpPr>
        <p:sp>
          <p:nvSpPr>
            <p:cNvPr id="133" name="Google Shape;133;p23"/>
            <p:cNvSpPr/>
            <p:nvPr/>
          </p:nvSpPr>
          <p:spPr>
            <a:xfrm>
              <a:off x="0" y="0"/>
              <a:ext cx="1762200" cy="1047900"/>
            </a:xfrm>
            <a:prstGeom prst="roundRect">
              <a:avLst>
                <a:gd fmla="val 10909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3"/>
            <p:cNvSpPr txBox="1"/>
            <p:nvPr/>
          </p:nvSpPr>
          <p:spPr>
            <a:xfrm>
              <a:off x="0" y="0"/>
              <a:ext cx="1762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BBC04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60%</a:t>
              </a:r>
              <a:endParaRPr b="1" sz="2400">
                <a:solidFill>
                  <a:srgbClr val="FBBC04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Students</a:t>
              </a:r>
              <a:endParaRPr b="0" sz="11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35" name="Google Shape;135;p23"/>
          <p:cNvGrpSpPr/>
          <p:nvPr/>
        </p:nvGrpSpPr>
        <p:grpSpPr>
          <a:xfrm>
            <a:off x="4762500" y="1428750"/>
            <a:ext cx="3429000" cy="2333700"/>
            <a:chOff x="0" y="0"/>
            <a:chExt cx="3429000" cy="2333700"/>
          </a:xfrm>
        </p:grpSpPr>
        <p:sp>
          <p:nvSpPr>
            <p:cNvPr id="136" name="Google Shape;136;p23"/>
            <p:cNvSpPr/>
            <p:nvPr/>
          </p:nvSpPr>
          <p:spPr>
            <a:xfrm>
              <a:off x="0" y="0"/>
              <a:ext cx="3429000" cy="2333700"/>
            </a:xfrm>
            <a:prstGeom prst="roundRect">
              <a:avLst>
                <a:gd fmla="val 653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" name="Google Shape;137;p23"/>
            <p:cNvPicPr preferRelativeResize="0"/>
            <p:nvPr/>
          </p:nvPicPr>
          <p:blipFill rotWithShape="1">
            <a:blip r:embed="rId4">
              <a:alphaModFix/>
            </a:blip>
            <a:srcRect b="0" l="80" r="90" t="0"/>
            <a:stretch/>
          </p:blipFill>
          <p:spPr>
            <a:xfrm>
              <a:off x="238125" y="247650"/>
              <a:ext cx="2952900" cy="182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848075" y="800800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55</a:t>
            </a:r>
            <a:r>
              <a:rPr b="1" lang="en" sz="16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0+ </a:t>
            </a: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Total attendees (Pre-events + Main event)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35% </a:t>
            </a: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Women Audience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144" name="Google Shape;144;p24" title="Points scored"/>
          <p:cNvPicPr preferRelativeResize="0"/>
          <p:nvPr/>
        </p:nvPicPr>
        <p:blipFill rotWithShape="1">
          <a:blip r:embed="rId4">
            <a:alphaModFix/>
          </a:blip>
          <a:srcRect b="-11107" l="-2443" r="-10666" t="-2002"/>
          <a:stretch/>
        </p:blipFill>
        <p:spPr>
          <a:xfrm>
            <a:off x="4327025" y="1432462"/>
            <a:ext cx="3685050" cy="227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848075" y="800800"/>
            <a:ext cx="73329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Sponsorship Opportunities 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We offer several sponsorship levels to fit your organization's goals and budget. Each tier provides a unique set of benefits to maximize your brand's impact.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-22860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 txBox="1"/>
          <p:nvPr/>
        </p:nvSpPr>
        <p:spPr>
          <a:xfrm>
            <a:off x="857250" y="571500"/>
            <a:ext cx="4762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Sponsorship Tiers</a:t>
            </a:r>
            <a:endParaRPr b="1"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57" name="Google Shape;157;p26"/>
          <p:cNvGrpSpPr/>
          <p:nvPr/>
        </p:nvGrpSpPr>
        <p:grpSpPr>
          <a:xfrm>
            <a:off x="857250" y="1238250"/>
            <a:ext cx="2286000" cy="2473757"/>
            <a:chOff x="0" y="0"/>
            <a:chExt cx="2286000" cy="3048000"/>
          </a:xfrm>
        </p:grpSpPr>
        <p:sp>
          <p:nvSpPr>
            <p:cNvPr id="158" name="Google Shape;158;p26"/>
            <p:cNvSpPr/>
            <p:nvPr/>
          </p:nvSpPr>
          <p:spPr>
            <a:xfrm>
              <a:off x="0" y="0"/>
              <a:ext cx="2286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0" y="0"/>
              <a:ext cx="2286000" cy="76200"/>
            </a:xfrm>
            <a:prstGeom prst="roundRect">
              <a:avLst>
                <a:gd fmla="val 50000" name="adj"/>
              </a:avLst>
            </a:prstGeom>
            <a:solidFill>
              <a:srgbClr val="5F63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6"/>
            <p:cNvSpPr txBox="1"/>
            <p:nvPr/>
          </p:nvSpPr>
          <p:spPr>
            <a:xfrm>
              <a:off x="142875" y="190500"/>
              <a:ext cx="20001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5F636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Silver </a:t>
              </a:r>
              <a:endParaRPr b="1" sz="18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₹25,000</a:t>
              </a:r>
              <a:r>
                <a:rPr b="0" lang="en" sz="900">
                  <a:solidFill>
                    <a:srgbClr val="5F636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+ 18% GST</a:t>
              </a:r>
              <a:endParaRPr b="1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9AA0A6"/>
                </a:buClr>
                <a:buSzPts val="1000"/>
                <a:buFont typeface="Google Sans"/>
                <a:buChar char="●"/>
              </a:pPr>
              <a:r>
                <a:rPr b="1" lang="en" sz="10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5</a:t>
              </a: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Main Event Tickets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AA0A6"/>
                </a:buClr>
                <a:buSzPts val="1000"/>
                <a:buFont typeface="Google Sans"/>
                <a:buChar char="●"/>
              </a:pPr>
              <a:r>
                <a:rPr b="1" lang="en" sz="10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1</a:t>
              </a: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Dinner Event Ticket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AA0A6"/>
                </a:buClr>
                <a:buSzPts val="1000"/>
                <a:buFont typeface="Google Sans"/>
                <a:buChar char="●"/>
              </a:pP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Logo on Website &amp; Banners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AA0A6"/>
                </a:buClr>
                <a:buSzPts val="1000"/>
                <a:buFont typeface="Google Sans"/>
                <a:buChar char="●"/>
              </a:pP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Collaborative Post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45720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t/>
              </a:r>
              <a:endParaRPr sz="1000" strike="sngStrike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61" name="Google Shape;161;p26"/>
          <p:cNvGrpSpPr/>
          <p:nvPr/>
        </p:nvGrpSpPr>
        <p:grpSpPr>
          <a:xfrm>
            <a:off x="3429000" y="1238250"/>
            <a:ext cx="2286000" cy="2473757"/>
            <a:chOff x="0" y="0"/>
            <a:chExt cx="2286000" cy="3048000"/>
          </a:xfrm>
        </p:grpSpPr>
        <p:sp>
          <p:nvSpPr>
            <p:cNvPr id="162" name="Google Shape;162;p26"/>
            <p:cNvSpPr/>
            <p:nvPr/>
          </p:nvSpPr>
          <p:spPr>
            <a:xfrm>
              <a:off x="0" y="0"/>
              <a:ext cx="2286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A43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0" y="0"/>
              <a:ext cx="2286000" cy="76200"/>
            </a:xfrm>
            <a:prstGeom prst="roundRect">
              <a:avLst>
                <a:gd fmla="val 50000" name="adj"/>
              </a:avLst>
            </a:prstGeom>
            <a:solidFill>
              <a:srgbClr val="EA43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6"/>
            <p:cNvSpPr txBox="1"/>
            <p:nvPr/>
          </p:nvSpPr>
          <p:spPr>
            <a:xfrm>
              <a:off x="142875" y="190500"/>
              <a:ext cx="20001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A4335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Golden  </a:t>
              </a:r>
              <a:endParaRPr b="1" sz="1800">
                <a:solidFill>
                  <a:srgbClr val="EA4335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₹45,000</a:t>
              </a:r>
              <a:r>
                <a:rPr b="0" lang="en" sz="900">
                  <a:solidFill>
                    <a:srgbClr val="5F636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+ 18% GST</a:t>
              </a:r>
              <a:endParaRPr b="1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9AA0A6"/>
                </a:buClr>
                <a:buSzPts val="1000"/>
                <a:buFont typeface="Google Sans"/>
                <a:buChar char="●"/>
              </a:pPr>
              <a:r>
                <a:rPr b="1" lang="en" sz="10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10</a:t>
              </a: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Main Event Tickets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AA0A6"/>
                </a:buClr>
                <a:buSzPts val="1000"/>
                <a:buFont typeface="Google Sans"/>
                <a:buChar char="●"/>
              </a:pPr>
              <a:r>
                <a:rPr b="1" lang="en" sz="10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3</a:t>
              </a: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Dinner Event Tickets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AA0A6"/>
                </a:buClr>
                <a:buSzPts val="1000"/>
                <a:buFont typeface="Google Sans"/>
                <a:buChar char="●"/>
              </a:pP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Logo on Website &amp; Banners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AA0A6"/>
                </a:buClr>
                <a:buSzPts val="1000"/>
                <a:buFont typeface="Google Sans"/>
                <a:buChar char="●"/>
              </a:pP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Dedicated Shoutout on Social Media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AA0A6"/>
                </a:buClr>
                <a:buSzPts val="1000"/>
                <a:buFont typeface="Google Sans"/>
                <a:buChar char="●"/>
              </a:pP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Collaborative Post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45720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t/>
              </a:r>
              <a:endParaRPr sz="1000" strike="sngStrike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65" name="Google Shape;165;p26"/>
          <p:cNvGrpSpPr/>
          <p:nvPr/>
        </p:nvGrpSpPr>
        <p:grpSpPr>
          <a:xfrm>
            <a:off x="6000750" y="1238250"/>
            <a:ext cx="2286000" cy="2473757"/>
            <a:chOff x="0" y="0"/>
            <a:chExt cx="2286000" cy="3048000"/>
          </a:xfrm>
        </p:grpSpPr>
        <p:sp>
          <p:nvSpPr>
            <p:cNvPr id="166" name="Google Shape;166;p26"/>
            <p:cNvSpPr/>
            <p:nvPr/>
          </p:nvSpPr>
          <p:spPr>
            <a:xfrm>
              <a:off x="0" y="0"/>
              <a:ext cx="2286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1A73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0" y="0"/>
              <a:ext cx="2286000" cy="762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6"/>
            <p:cNvSpPr txBox="1"/>
            <p:nvPr/>
          </p:nvSpPr>
          <p:spPr>
            <a:xfrm>
              <a:off x="142875" y="190500"/>
              <a:ext cx="20001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A73E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Platinum </a:t>
              </a:r>
              <a:endParaRPr b="1" sz="1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₹65,000</a:t>
              </a:r>
              <a:r>
                <a:rPr b="0" lang="en" sz="900">
                  <a:solidFill>
                    <a:srgbClr val="5F636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+ 18% GST</a:t>
              </a:r>
              <a:endParaRPr b="1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73E8"/>
                </a:buClr>
                <a:buSzPts val="1000"/>
                <a:buFont typeface="Google Sans"/>
                <a:buChar char="●"/>
              </a:pPr>
              <a:r>
                <a:rPr b="1" lang="en" sz="10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15</a:t>
              </a: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Main Event Tickets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73E8"/>
                </a:buClr>
                <a:buSzPts val="1000"/>
                <a:buFont typeface="Google Sans"/>
                <a:buChar char="●"/>
              </a:pPr>
              <a:r>
                <a:rPr b="1" lang="en" sz="1000">
                  <a:solidFill>
                    <a:srgbClr val="1E1E1E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5</a:t>
              </a: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Dinner Event Tickets.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73E8"/>
                </a:buClr>
                <a:buSzPts val="1000"/>
                <a:buFont typeface="Google Sans"/>
                <a:buChar char="●"/>
              </a:pP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Collaborative Post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73E8"/>
                </a:buClr>
                <a:buSzPts val="1000"/>
                <a:buFont typeface="Google Sans"/>
                <a:buChar char="●"/>
              </a:pP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Logo on Website &amp; Banners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73E8"/>
                </a:buClr>
                <a:buSzPts val="1000"/>
                <a:buFont typeface="Google Sans"/>
                <a:buChar char="●"/>
              </a:pPr>
              <a:r>
                <a:rPr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Event &amp; Social Media shoutouts</a:t>
              </a:r>
              <a:endParaRPr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A73E8"/>
                </a:buClr>
                <a:buSzPts val="1000"/>
                <a:buFont typeface="Google Sans"/>
                <a:buChar char="●"/>
              </a:pPr>
              <a:r>
                <a:rPr b="1" lang="en" sz="1000">
                  <a:solidFill>
                    <a:srgbClr val="1A73E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Dedicated Booth Space</a:t>
              </a:r>
              <a:endParaRPr b="1" sz="10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Silver </a:t>
            </a:r>
            <a:endParaRPr b="1" sz="3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3267100" y="1958600"/>
            <a:ext cx="5211000" cy="1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Build your presence, increase visibility, and connect with the local tech community. 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8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848075" y="772775"/>
            <a:ext cx="7105800" cy="3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Silver </a:t>
            </a:r>
            <a:endParaRPr b="1" sz="3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5</a:t>
            </a: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Main Event Tickets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 Dinner Event Ticket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19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100"/>
              <a:buFont typeface="Google Sans"/>
              <a:buChar char="●"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Logo on Website &amp; Banners 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Collaborative Post on Social Media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strike="sngStrike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/>
        </p:nvSpPr>
        <p:spPr>
          <a:xfrm>
            <a:off x="6691989" y="893007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Baroda</a:t>
            </a:r>
            <a:endParaRPr sz="95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1027625" y="1780050"/>
            <a:ext cx="4415400" cy="18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Perfect for </a:t>
            </a:r>
            <a:r>
              <a:rPr lang="en"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Startups and organizations looking to connect with local tech talent and grow their presence.</a:t>
            </a:r>
            <a:endParaRPr sz="2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EA4335"/>
                </a:solidFill>
                <a:latin typeface="Google Sans"/>
                <a:ea typeface="Google Sans"/>
                <a:cs typeface="Google Sans"/>
                <a:sym typeface="Google Sans"/>
              </a:rPr>
              <a:t>Gold 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3267100" y="2022900"/>
            <a:ext cx="53157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Amplify your brand, engage directly with attendees, and create meaningful connections. </a:t>
            </a:r>
            <a:endParaRPr sz="18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1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1"/>
          <p:cNvSpPr txBox="1"/>
          <p:nvPr/>
        </p:nvSpPr>
        <p:spPr>
          <a:xfrm>
            <a:off x="848075" y="772775"/>
            <a:ext cx="7105800" cy="3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EA4335"/>
                </a:solidFill>
                <a:latin typeface="Google Sans"/>
                <a:ea typeface="Google Sans"/>
                <a:cs typeface="Google Sans"/>
                <a:sym typeface="Google Sans"/>
              </a:rPr>
              <a:t>Gold</a:t>
            </a:r>
            <a:endParaRPr b="1" sz="3000">
              <a:solidFill>
                <a:srgbClr val="EA4335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10</a:t>
            </a: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Main Event Tickets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3</a:t>
            </a: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Dinner Event Tickets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Collaborative Post on Social Media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19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100"/>
              <a:buFont typeface="Google Sans"/>
              <a:buChar char="●"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Logo on Website &amp; Banners 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Dedicated Shoutout on Social Media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strike="sngStrike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/>
        </p:nvSpPr>
        <p:spPr>
          <a:xfrm>
            <a:off x="6695494" y="890300"/>
            <a:ext cx="1656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Baroda</a:t>
            </a:r>
            <a:endParaRPr sz="95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6" name="Google Shape;206;p32"/>
          <p:cNvSpPr txBox="1"/>
          <p:nvPr/>
        </p:nvSpPr>
        <p:spPr>
          <a:xfrm>
            <a:off x="978825" y="1518800"/>
            <a:ext cx="4584300" cy="24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</a:rPr>
              <a:t>Perfect for </a:t>
            </a:r>
            <a:r>
              <a:rPr lang="en" sz="2500">
                <a:solidFill>
                  <a:schemeClr val="dk1"/>
                </a:solidFill>
              </a:rPr>
              <a:t>growing businesses seeking greater visibility and direct engagement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with the DevFest Baroda community. </a:t>
            </a:r>
            <a:endParaRPr sz="2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Platinum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3267100" y="2022900"/>
            <a:ext cx="53157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Maximize your brand impact with premium visibility, dedicated space, and deeper community engagement. </a:t>
            </a:r>
            <a:endParaRPr sz="18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4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4"/>
          <p:cNvSpPr txBox="1"/>
          <p:nvPr/>
        </p:nvSpPr>
        <p:spPr>
          <a:xfrm>
            <a:off x="848075" y="772775"/>
            <a:ext cx="7105800" cy="3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Platinum</a:t>
            </a:r>
            <a:endParaRPr b="1" sz="3000">
              <a:solidFill>
                <a:srgbClr val="EA4335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15</a:t>
            </a: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Main Event Tickets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5</a:t>
            </a: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Dinner Event Tickets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Collaborative Post on Social Media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619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100"/>
              <a:buFont typeface="Google Sans"/>
              <a:buChar char="●"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Logo on Website &amp; Banners 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Event &amp; Social Media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Shoutouts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000"/>
              <a:buFont typeface="Google Sans"/>
              <a:buChar char="●"/>
            </a:pPr>
            <a:r>
              <a:rPr lang="en" sz="2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Dedicated Booth Space</a:t>
            </a:r>
            <a:endParaRPr sz="2000">
              <a:solidFill>
                <a:srgbClr val="4285F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/>
        </p:nvSpPr>
        <p:spPr>
          <a:xfrm>
            <a:off x="6695494" y="890300"/>
            <a:ext cx="1656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Baroda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1172100" y="1411500"/>
            <a:ext cx="4101000" cy="25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Perfect for</a:t>
            </a:r>
            <a:r>
              <a:rPr lang="en"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established brands seeking maximum visibility, premium exposure, and stronger tech connections.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6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6"/>
          <p:cNvSpPr txBox="1"/>
          <p:nvPr/>
        </p:nvSpPr>
        <p:spPr>
          <a:xfrm>
            <a:off x="848075" y="772775"/>
            <a:ext cx="7105800" cy="3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Ready to partner with DevFest Baroda 2026? We're excited to discuss how we can create a mutually beneficial partnership. Reach out to us for more information or to secure your sponsorship.</a:t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12700" marR="5080" rtl="0" algn="l">
              <a:lnSpc>
                <a:spcPct val="13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232" name="Google Shape;232;p36"/>
          <p:cNvGrpSpPr/>
          <p:nvPr/>
        </p:nvGrpSpPr>
        <p:grpSpPr>
          <a:xfrm>
            <a:off x="1038572" y="2280774"/>
            <a:ext cx="381000" cy="381000"/>
            <a:chOff x="848074" y="1676049"/>
            <a:chExt cx="762000" cy="762000"/>
          </a:xfrm>
        </p:grpSpPr>
        <p:sp>
          <p:nvSpPr>
            <p:cNvPr id="233" name="Google Shape;233;p36"/>
            <p:cNvSpPr/>
            <p:nvPr/>
          </p:nvSpPr>
          <p:spPr>
            <a:xfrm>
              <a:off x="848074" y="1676049"/>
              <a:ext cx="762000" cy="762000"/>
            </a:xfrm>
            <a:custGeom>
              <a:rect b="b" l="l" r="r" t="t"/>
              <a:pathLst>
                <a:path extrusionOk="0" h="762000" w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1"/>
                  </a:lnTo>
                  <a:lnTo>
                    <a:pt x="243882" y="736471"/>
                  </a:lnTo>
                  <a:lnTo>
                    <a:pt x="201397" y="717012"/>
                  </a:lnTo>
                  <a:lnTo>
                    <a:pt x="161614" y="692498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10" y="592671"/>
                  </a:lnTo>
                  <a:lnTo>
                    <a:pt x="40680" y="552299"/>
                  </a:lnTo>
                  <a:lnTo>
                    <a:pt x="22271" y="509354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6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7"/>
                  </a:lnTo>
                  <a:lnTo>
                    <a:pt x="49498" y="193202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6" y="86483"/>
                  </a:lnTo>
                  <a:lnTo>
                    <a:pt x="177168" y="59108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2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2" y="29001"/>
                  </a:lnTo>
                  <a:lnTo>
                    <a:pt x="568796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5"/>
                  </a:lnTo>
                  <a:lnTo>
                    <a:pt x="702890" y="177168"/>
                  </a:lnTo>
                  <a:lnTo>
                    <a:pt x="725420" y="218101"/>
                  </a:lnTo>
                  <a:lnTo>
                    <a:pt x="742769" y="261484"/>
                  </a:lnTo>
                  <a:lnTo>
                    <a:pt x="754679" y="306670"/>
                  </a:lnTo>
                  <a:lnTo>
                    <a:pt x="760967" y="352974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7" y="526801"/>
                  </a:lnTo>
                  <a:lnTo>
                    <a:pt x="712501" y="568796"/>
                  </a:lnTo>
                  <a:lnTo>
                    <a:pt x="687022" y="607961"/>
                  </a:lnTo>
                  <a:lnTo>
                    <a:pt x="656940" y="643712"/>
                  </a:lnTo>
                  <a:lnTo>
                    <a:pt x="622703" y="675517"/>
                  </a:lnTo>
                  <a:lnTo>
                    <a:pt x="584831" y="702890"/>
                  </a:lnTo>
                  <a:lnTo>
                    <a:pt x="543898" y="725419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4185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pic>
          <p:nvPicPr>
            <p:cNvPr id="234" name="Google Shape;234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6674" y="1879249"/>
              <a:ext cx="301625" cy="34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5" name="Google Shape;235;p36"/>
          <p:cNvGrpSpPr/>
          <p:nvPr/>
        </p:nvGrpSpPr>
        <p:grpSpPr>
          <a:xfrm>
            <a:off x="1038574" y="2733721"/>
            <a:ext cx="381000" cy="381000"/>
            <a:chOff x="1038574" y="2628549"/>
            <a:chExt cx="381000" cy="381000"/>
          </a:xfrm>
        </p:grpSpPr>
        <p:sp>
          <p:nvSpPr>
            <p:cNvPr id="236" name="Google Shape;236;p36"/>
            <p:cNvSpPr/>
            <p:nvPr/>
          </p:nvSpPr>
          <p:spPr>
            <a:xfrm>
              <a:off x="1038574" y="2628549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4185F4">
                <a:alpha val="102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7" name="Google Shape;237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3349" y="2755549"/>
              <a:ext cx="171450" cy="130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36"/>
          <p:cNvSpPr txBox="1"/>
          <p:nvPr/>
        </p:nvSpPr>
        <p:spPr>
          <a:xfrm>
            <a:off x="1560449" y="2209147"/>
            <a:ext cx="20454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333333"/>
                </a:solidFill>
                <a:latin typeface="Arial Black"/>
                <a:ea typeface="Arial Black"/>
                <a:cs typeface="Arial Black"/>
                <a:sym typeface="Arial Black"/>
              </a:rPr>
              <a:t>Dron Trivedi</a:t>
            </a:r>
            <a:endParaRPr sz="165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Tahoma"/>
                <a:ea typeface="Tahoma"/>
                <a:cs typeface="Tahoma"/>
                <a:sym typeface="Tahoma"/>
              </a:rPr>
              <a:t>Organiser, GDG Baroda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36"/>
          <p:cNvSpPr txBox="1"/>
          <p:nvPr/>
        </p:nvSpPr>
        <p:spPr>
          <a:xfrm>
            <a:off x="1560449" y="2823290"/>
            <a:ext cx="20454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50" u="sng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gdgbaroda@gmail.com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0" name="Google Shape;240;p36"/>
          <p:cNvGrpSpPr/>
          <p:nvPr/>
        </p:nvGrpSpPr>
        <p:grpSpPr>
          <a:xfrm>
            <a:off x="866734" y="3345151"/>
            <a:ext cx="3436237" cy="972646"/>
            <a:chOff x="4210825" y="2724300"/>
            <a:chExt cx="2792100" cy="790383"/>
          </a:xfrm>
        </p:grpSpPr>
        <p:grpSp>
          <p:nvGrpSpPr>
            <p:cNvPr id="241" name="Google Shape;241;p36"/>
            <p:cNvGrpSpPr/>
            <p:nvPr/>
          </p:nvGrpSpPr>
          <p:grpSpPr>
            <a:xfrm>
              <a:off x="4210908" y="2724305"/>
              <a:ext cx="2791816" cy="790379"/>
              <a:chOff x="571499" y="6934199"/>
              <a:chExt cx="5334000" cy="1533525"/>
            </a:xfrm>
          </p:grpSpPr>
          <p:sp>
            <p:nvSpPr>
              <p:cNvPr id="242" name="Google Shape;242;p36"/>
              <p:cNvSpPr/>
              <p:nvPr/>
            </p:nvSpPr>
            <p:spPr>
              <a:xfrm>
                <a:off x="571499" y="6934199"/>
                <a:ext cx="38100" cy="1533525"/>
              </a:xfrm>
              <a:custGeom>
                <a:rect b="b" l="l" r="r" t="t"/>
                <a:pathLst>
                  <a:path extrusionOk="0" h="1533525" w="38100">
                    <a:moveTo>
                      <a:pt x="38099" y="1533524"/>
                    </a:moveTo>
                    <a:lnTo>
                      <a:pt x="0" y="1533524"/>
                    </a:lnTo>
                    <a:lnTo>
                      <a:pt x="0" y="0"/>
                    </a:lnTo>
                    <a:lnTo>
                      <a:pt x="38099" y="0"/>
                    </a:lnTo>
                    <a:lnTo>
                      <a:pt x="38099" y="1533524"/>
                    </a:lnTo>
                    <a:close/>
                  </a:path>
                </a:pathLst>
              </a:custGeom>
              <a:solidFill>
                <a:srgbClr val="33A75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88"/>
              </a:p>
            </p:txBody>
          </p:sp>
          <p:sp>
            <p:nvSpPr>
              <p:cNvPr id="243" name="Google Shape;243;p36"/>
              <p:cNvSpPr/>
              <p:nvPr/>
            </p:nvSpPr>
            <p:spPr>
              <a:xfrm>
                <a:off x="609599" y="6934199"/>
                <a:ext cx="5295900" cy="1533525"/>
              </a:xfrm>
              <a:custGeom>
                <a:rect b="b" l="l" r="r" t="t"/>
                <a:pathLst>
                  <a:path extrusionOk="0" h="1533525" w="5295900">
                    <a:moveTo>
                      <a:pt x="0" y="1533524"/>
                    </a:moveTo>
                    <a:lnTo>
                      <a:pt x="5295899" y="1533524"/>
                    </a:lnTo>
                    <a:lnTo>
                      <a:pt x="5295899" y="0"/>
                    </a:lnTo>
                    <a:lnTo>
                      <a:pt x="0" y="0"/>
                    </a:lnTo>
                    <a:lnTo>
                      <a:pt x="0" y="1533524"/>
                    </a:lnTo>
                    <a:close/>
                  </a:path>
                </a:pathLst>
              </a:custGeom>
              <a:solidFill>
                <a:srgbClr val="33A753">
                  <a:alpha val="1020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88"/>
              </a:p>
            </p:txBody>
          </p:sp>
        </p:grpSp>
        <p:sp>
          <p:nvSpPr>
            <p:cNvPr id="244" name="Google Shape;244;p36"/>
            <p:cNvSpPr txBox="1"/>
            <p:nvPr/>
          </p:nvSpPr>
          <p:spPr>
            <a:xfrm>
              <a:off x="4210825" y="2724300"/>
              <a:ext cx="2792100" cy="7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500" lIns="112500" spcFirstLastPara="1" rIns="112500" wrap="square" tIns="1125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1">
                  <a:solidFill>
                    <a:srgbClr val="33A75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Custom Sponsorship Packages</a:t>
              </a:r>
              <a:endParaRPr sz="861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marR="263352" rtl="0" algn="l">
                <a:lnSpc>
                  <a:spcPct val="125000"/>
                </a:lnSpc>
                <a:spcBef>
                  <a:spcPts val="886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33333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Looking for something different? We're happy to discuss custom sponsorship packages tailored to your specific goals. Contact us at </a:t>
              </a:r>
              <a:r>
                <a:rPr lang="en" sz="800" u="sng">
                  <a:solidFill>
                    <a:srgbClr val="333333"/>
                  </a:solidFill>
                  <a:latin typeface="Google Sans"/>
                  <a:ea typeface="Google Sans"/>
                  <a:cs typeface="Google Sans"/>
                  <a:sym typeface="Google Sans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gdgbaroda@gmail.com</a:t>
              </a:r>
              <a:r>
                <a:rPr lang="en" sz="800">
                  <a:solidFill>
                    <a:srgbClr val="33333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to explore possibilities.</a:t>
              </a:r>
              <a:endParaRPr sz="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245" name="Google Shape;245;p36"/>
          <p:cNvSpPr txBox="1"/>
          <p:nvPr/>
        </p:nvSpPr>
        <p:spPr>
          <a:xfrm>
            <a:off x="764214" y="469650"/>
            <a:ext cx="69885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Contact Us</a:t>
            </a:r>
            <a:endParaRPr b="1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